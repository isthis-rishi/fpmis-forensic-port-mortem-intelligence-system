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62758" y="241250"/>
            <a:ext cx="5018484" cy="312390"/>
          </a:xfrm>
          <a:prstGeom prst="roundRect">
            <a:avLst>
              <a:gd name="adj" fmla="val 60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06883" y="317450"/>
            <a:ext cx="4730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HEALTHHACK 2026 • VIT BHOPAL × JOHNS HOPKINS UNIVERSITY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28405" y="896541"/>
            <a:ext cx="4087189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Post-Mortem</a:t>
            </a:r>
            <a:endParaRPr lang="en-US" sz="3300" dirty="0"/>
          </a:p>
          <a:p>
            <a:pPr algn="ctr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System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221029" y="2207121"/>
            <a:ext cx="70179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1200"/>
              </a:spcBef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FPMIS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154055" y="2881461"/>
            <a:ext cx="4835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Forensic Medicine &amp; Public Health Through Digital Innovation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610" y="3971032"/>
            <a:ext cx="155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Digital Care Crew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06017" y="4386263"/>
            <a:ext cx="37319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Gurinder Singh • Rishi Kumar • Jatin Guleriya • Shantanu Pandit • Vishal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69218" y="4755803"/>
            <a:ext cx="1805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Students • VIT Bhopal University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5bba5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gaps in forensic healthcare infrastructure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85750" y="1634877"/>
            <a:ext cx="4583311" cy="624632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04800" y="1634877"/>
            <a:ext cx="0" cy="624632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7682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95350" y="1768227"/>
            <a:ext cx="38969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Documentation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895350" y="1979563"/>
            <a:ext cx="38969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Autopsy reports use paper formats and manual notes, causing missing information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85750" y="2373809"/>
            <a:ext cx="4583311" cy="624632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04800" y="2373809"/>
            <a:ext cx="0" cy="624632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6250" y="25071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95350" y="2507159"/>
            <a:ext cx="3594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Chain-of-Custody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895350" y="2718495"/>
            <a:ext cx="35942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tracking is manual, leading to gaps in medico-legal documentation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285750" y="3112740"/>
            <a:ext cx="4583311" cy="624632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4800" y="3112740"/>
            <a:ext cx="0" cy="624632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250" y="32460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95350" y="3246090"/>
            <a:ext cx="29028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Time-of-Death Estimation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895350" y="3457426"/>
            <a:ext cx="29028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recording reduces accuracy across different institutes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285750" y="3851672"/>
            <a:ext cx="4583311" cy="624632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04800" y="3851672"/>
            <a:ext cx="0" cy="624632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6250" y="398502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95350" y="3985022"/>
            <a:ext cx="29919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Searchable Database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895350" y="4196358"/>
            <a:ext cx="29919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referencing previous cases for investigation or training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097661" y="1397496"/>
            <a:ext cx="3760589" cy="3316039"/>
          </a:xfrm>
          <a:prstGeom prst="roundRect">
            <a:avLst>
              <a:gd name="adj" fmla="val 3447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88161" y="1587996"/>
            <a:ext cx="3447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254365" y="1886992"/>
            <a:ext cx="344718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150" dirty="0"/>
          </a:p>
        </p:txBody>
      </p:sp>
      <p:sp>
        <p:nvSpPr>
          <p:cNvPr id="28" name="Text 25"/>
          <p:cNvSpPr/>
          <p:nvPr/>
        </p:nvSpPr>
        <p:spPr>
          <a:xfrm>
            <a:off x="5254365" y="2485132"/>
            <a:ext cx="3447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rural districts lack digital forensic systems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288161" y="2784128"/>
            <a:ext cx="3379589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54365" y="2946053"/>
            <a:ext cx="344718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150" dirty="0"/>
          </a:p>
        </p:txBody>
      </p:sp>
      <p:sp>
        <p:nvSpPr>
          <p:cNvPr id="31" name="Text 28"/>
          <p:cNvSpPr/>
          <p:nvPr/>
        </p:nvSpPr>
        <p:spPr>
          <a:xfrm>
            <a:off x="5254365" y="3544193"/>
            <a:ext cx="3447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documentation gaps in manual systems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5288161" y="3843189"/>
            <a:ext cx="3379589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254365" y="4005114"/>
            <a:ext cx="34471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Access Gap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54365" y="4229844"/>
            <a:ext cx="344718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forensic data impacts public health surveillance in underserved areas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ALIGNMENT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89496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Improving Health Access for All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137196"/>
            <a:ext cx="8572500" cy="762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137196"/>
            <a:ext cx="0" cy="76200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289596"/>
            <a:ext cx="8316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medicine is an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but overlooked pillar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public health infrastructure. FPMIS transforms post-mortem data into actionable health intelligence for communities.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85750" y="2314129"/>
            <a:ext cx="2755850" cy="1610618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48557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999929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Forensic Infrastructure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81809"/>
            <a:ext cx="246120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hospitals and government facilities in underserved areas lack modern forensic systems. FPMIS provides affordable digital infrastructure.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194000" y="2314129"/>
            <a:ext cx="2755850" cy="1610618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5450" y="248557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65450" y="2999929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Surveillance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5450" y="3281809"/>
            <a:ext cx="246120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 in deaths can identify disease outbreaks, environmental hazards, and health crises in communities before they escalate.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102251" y="2314129"/>
            <a:ext cx="2755850" cy="1610618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73701" y="2485579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73701" y="2999929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Training Access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73701" y="3281809"/>
            <a:ext cx="246120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case database enables medical students in smaller colleges to learn forensic medicine without expensive resources.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5750" y="4339828"/>
            <a:ext cx="8572500" cy="575072"/>
          </a:xfrm>
          <a:prstGeom prst="roundRect">
            <a:avLst>
              <a:gd name="adj" fmla="val 13251"/>
            </a:avLst>
          </a:prstGeom>
          <a:solidFill>
            <a:srgbClr val="FF6B6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8377" y="4454128"/>
            <a:ext cx="79961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Better forensic data leads to better public health outcomes — from identifying poison clusters to tracking unnatural death patterns in communities.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fe902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digital platform for forensic post-mortem intelligence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85750" y="1158180"/>
            <a:ext cx="8572500" cy="1099096"/>
          </a:xfrm>
          <a:prstGeom prst="roundRect">
            <a:avLst>
              <a:gd name="adj" fmla="val 10399"/>
            </a:avLst>
          </a:prstGeom>
          <a:solidFill>
            <a:srgbClr val="FFFFFF"/>
          </a:solidFill>
          <a:ln w="19050">
            <a:solidFill>
              <a:srgbClr val="0D5C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5300" y="1367730"/>
            <a:ext cx="8316468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FPMIS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single software platform that digitizes and structures post-mortem data. It stores autopsy reports in a standard format, tracks evidence chain-of-custody, assists in time-of-death recording, maintains decomposition logs, and builds a searchable forensic intelligence database.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750" y="2409676"/>
            <a:ext cx="1607790" cy="1108472"/>
          </a:xfrm>
          <a:prstGeom prst="roundRect">
            <a:avLst>
              <a:gd name="adj" fmla="val 8593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99071" y="25620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3057" y="3019276"/>
            <a:ext cx="79302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endParaRPr lang="en-US" sz="975" dirty="0"/>
          </a:p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026890" y="2409676"/>
            <a:ext cx="1607790" cy="1108472"/>
          </a:xfrm>
          <a:prstGeom prst="roundRect">
            <a:avLst>
              <a:gd name="adj" fmla="val 8593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640211" y="25620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553364" y="3019276"/>
            <a:ext cx="55469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75" dirty="0"/>
          </a:p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768030" y="2409676"/>
            <a:ext cx="1607790" cy="1108472"/>
          </a:xfrm>
          <a:prstGeom prst="roundRect">
            <a:avLst>
              <a:gd name="adj" fmla="val 8593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381351" y="25620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231504" y="3019276"/>
            <a:ext cx="68084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</a:t>
            </a:r>
            <a:endParaRPr lang="en-US" sz="975" dirty="0"/>
          </a:p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5509171" y="2409676"/>
            <a:ext cx="1607790" cy="1108472"/>
          </a:xfrm>
          <a:prstGeom prst="roundRect">
            <a:avLst>
              <a:gd name="adj" fmla="val 8593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122491" y="25620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975985" y="3019276"/>
            <a:ext cx="6740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</a:t>
            </a:r>
            <a:endParaRPr lang="en-US" sz="975" dirty="0"/>
          </a:p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7250311" y="2409676"/>
            <a:ext cx="1607790" cy="1108472"/>
          </a:xfrm>
          <a:prstGeom prst="roundRect">
            <a:avLst>
              <a:gd name="adj" fmla="val 8593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863632" y="25620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836594" y="3019276"/>
            <a:ext cx="4352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975" dirty="0"/>
          </a:p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285750" y="3674120"/>
            <a:ext cx="4191000" cy="1237208"/>
          </a:xfrm>
          <a:prstGeom prst="roundRect">
            <a:avLst>
              <a:gd name="adj" fmla="val 7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04800" y="3674120"/>
            <a:ext cx="0" cy="1237208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6250" y="382652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VALUE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76250" y="4201716"/>
            <a:ext cx="3925062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consistency, reduces information loss, helps forensic staff access data quickly, and supports training — all without changing existing medical processes.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4667250" y="3674120"/>
            <a:ext cx="4191000" cy="1237208"/>
          </a:xfrm>
          <a:prstGeom prst="roundRect">
            <a:avLst>
              <a:gd name="adj" fmla="val 7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86300" y="3674120"/>
            <a:ext cx="0" cy="1237208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382652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IMPACT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57750" y="4201716"/>
            <a:ext cx="3925062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public health teams to detect unusual death clusters, environmental hazards, and disease patterns that affect community health access.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a2731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Modules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integrated components powering FPMIS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85750" y="1415951"/>
            <a:ext cx="2043113" cy="1079897"/>
          </a:xfrm>
          <a:prstGeom prst="roundRect">
            <a:avLst>
              <a:gd name="adj" fmla="val 88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85750" y="2481560"/>
            <a:ext cx="2043113" cy="0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9100" y="154930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76300" y="1549301"/>
            <a:ext cx="13455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Autopsy Report Structuring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876300" y="1933873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data entry with injury, organ, and cause-of-death fields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462213" y="1502569"/>
            <a:ext cx="204311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462213" y="2394942"/>
            <a:ext cx="2043113" cy="0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95563" y="163591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052763" y="1635919"/>
            <a:ext cx="1345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Time-of-Death Module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052763" y="1847255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TOD range calculation with reasoning fields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38675" y="1415951"/>
            <a:ext cx="2043113" cy="1079897"/>
          </a:xfrm>
          <a:prstGeom prst="roundRect">
            <a:avLst>
              <a:gd name="adj" fmla="val 88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38675" y="2481560"/>
            <a:ext cx="2043113" cy="0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2025" y="154930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29225" y="1549301"/>
            <a:ext cx="13455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Logging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229225" y="1933873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and decomposition stage tracking with reference data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815138" y="1569244"/>
            <a:ext cx="2043113" cy="773311"/>
          </a:xfrm>
          <a:prstGeom prst="roundRect">
            <a:avLst>
              <a:gd name="adj" fmla="val 123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815138" y="2328267"/>
            <a:ext cx="2043113" cy="0"/>
          </a:xfrm>
          <a:prstGeom prst="line">
            <a:avLst/>
          </a:prstGeom>
          <a:noFill/>
          <a:ln w="28575">
            <a:solidFill>
              <a:srgbClr val="0D5C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8488" y="170259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405688" y="1702594"/>
            <a:ext cx="1345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Chain-of-Custody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7405688" y="1913930"/>
            <a:ext cx="1345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evidence transfer logs with complete timeline tracking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85750" y="3212455"/>
            <a:ext cx="204311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285750" y="4104829"/>
            <a:ext cx="2043113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9100" y="334580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76300" y="3345805"/>
            <a:ext cx="1345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Identification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76300" y="3557141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person and unidentified body matching using descriptive data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462213" y="3212455"/>
            <a:ext cx="204311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2462213" y="4104829"/>
            <a:ext cx="2043113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95563" y="334580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052763" y="3345805"/>
            <a:ext cx="1345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Database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3052763" y="3557141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case database with filters by cause, age, injuries, toxicology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638675" y="3212455"/>
            <a:ext cx="204311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638675" y="4104829"/>
            <a:ext cx="2043113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72025" y="334580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229225" y="3345805"/>
            <a:ext cx="1345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Comparison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5229225" y="3557141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history and multi-autopsy comparison for pattern analysis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815138" y="3212455"/>
            <a:ext cx="2043113" cy="906661"/>
          </a:xfrm>
          <a:prstGeom prst="roundRect">
            <a:avLst>
              <a:gd name="adj" fmla="val 105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6815138" y="4104829"/>
            <a:ext cx="2043113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48488" y="334580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7405688" y="3345805"/>
            <a:ext cx="13455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Pattern-Based Alerts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7405688" y="3557141"/>
            <a:ext cx="13455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alerts for unusual causes or death clusters in regions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85750" y="4577953"/>
            <a:ext cx="8572500" cy="337096"/>
          </a:xfrm>
          <a:prstGeom prst="roundRect">
            <a:avLst>
              <a:gd name="adj" fmla="val 22605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55473" y="4673203"/>
            <a:ext cx="8433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Integration: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Modules 5-8 directly support community health surveillance and missing persons reunification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76f6c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scalable architecture for healthcare environments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85750" y="1044178"/>
            <a:ext cx="4610100" cy="998041"/>
          </a:xfrm>
          <a:prstGeom prst="roundRect">
            <a:avLst>
              <a:gd name="adj" fmla="val 9544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1177528"/>
            <a:ext cx="4352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1406128"/>
            <a:ext cx="20764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591" y="1501378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Next.js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33591" y="1693664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2647950" y="1406128"/>
            <a:ext cx="20764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24341" y="1501378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2724341" y="1693664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UI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239649" y="2156520"/>
            <a:ext cx="4702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85750" y="2537520"/>
            <a:ext cx="4610100" cy="998041"/>
          </a:xfrm>
          <a:prstGeom prst="roundRect">
            <a:avLst>
              <a:gd name="adj" fmla="val 9544"/>
            </a:avLst>
          </a:prstGeom>
          <a:solidFill>
            <a:srgbClr val="1A88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2670870"/>
            <a:ext cx="4352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57200" y="2899470"/>
            <a:ext cx="20764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33591" y="2994720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33591" y="3187005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 Django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2647950" y="2899470"/>
            <a:ext cx="20764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724341" y="2994720"/>
            <a:ext cx="19236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2724341" y="3187005"/>
            <a:ext cx="19236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Option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239649" y="3649861"/>
            <a:ext cx="4702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85750" y="4030861"/>
            <a:ext cx="4610100" cy="998041"/>
          </a:xfrm>
          <a:prstGeom prst="roundRect">
            <a:avLst>
              <a:gd name="adj" fmla="val 9544"/>
            </a:avLst>
          </a:prstGeom>
          <a:solidFill>
            <a:srgbClr val="2D34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7200" y="4164211"/>
            <a:ext cx="4352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57200" y="4392811"/>
            <a:ext cx="13461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893" y="4488061"/>
            <a:ext cx="11787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40893" y="4680347"/>
            <a:ext cx="1178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Database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1917650" y="4392811"/>
            <a:ext cx="13461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001344" y="4488061"/>
            <a:ext cx="11787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2001344" y="4680347"/>
            <a:ext cx="1178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Store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3378101" y="4392811"/>
            <a:ext cx="1346150" cy="502741"/>
          </a:xfrm>
          <a:prstGeom prst="roundRect">
            <a:avLst>
              <a:gd name="adj" fmla="val 113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461794" y="4488061"/>
            <a:ext cx="11787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3461794" y="4680347"/>
            <a:ext cx="1178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Search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5086350" y="1073051"/>
            <a:ext cx="3771900" cy="999827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5105400" y="1073051"/>
            <a:ext cx="0" cy="999827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76850" y="1225451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76850" y="1442591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276850" y="1608237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5276850" y="1773882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5086350" y="2187178"/>
            <a:ext cx="3771900" cy="999827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105400" y="2187178"/>
            <a:ext cx="0" cy="999827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76850" y="2339578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Data Processing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276850" y="2556718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for data analysis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5276850" y="2722364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TOD calculation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5276850" y="2888010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 algorithms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5086350" y="3301305"/>
            <a:ext cx="3771900" cy="999827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5105400" y="3301305"/>
            <a:ext cx="0" cy="999827"/>
          </a:xfrm>
          <a:prstGeom prst="line">
            <a:avLst/>
          </a:prstGeom>
          <a:noFill/>
          <a:ln w="38100">
            <a:solidFill>
              <a:srgbClr val="1A889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276850" y="3453705"/>
            <a:ext cx="34975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8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Outputs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276850" y="3670846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Print-ready PDF reports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5276850" y="3836491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case summaries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5276850" y="4002137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standard formats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5086350" y="4415433"/>
            <a:ext cx="3771900" cy="584746"/>
          </a:xfrm>
          <a:prstGeom prst="roundRect">
            <a:avLst>
              <a:gd name="adj" fmla="val 1628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184648" y="4548783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medical system dependency</a:t>
            </a:r>
            <a:endParaRPr lang="en-US" sz="825" dirty="0"/>
          </a:p>
        </p:txBody>
      </p:sp>
      <p:sp>
        <p:nvSpPr>
          <p:cNvPr id="54" name="Text 51"/>
          <p:cNvSpPr/>
          <p:nvPr/>
        </p:nvSpPr>
        <p:spPr>
          <a:xfrm>
            <a:off x="5184648" y="4733479"/>
            <a:ext cx="357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standalone in any hospital or lab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f14b1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Features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capabilities for forensic workflows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85750" y="1557338"/>
            <a:ext cx="2755850" cy="337096"/>
          </a:xfrm>
          <a:prstGeom prst="roundRect">
            <a:avLst>
              <a:gd name="adj" fmla="val 22605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9100" y="165258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285750" y="1989683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9100" y="2103983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Standardized Autopsy Format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9100" y="2302073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report structure across all cases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85750" y="2644973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19100" y="2759273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Injury &amp; Organ Fields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9100" y="295736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anatomical documentation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85750" y="3300264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19100" y="3414564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☠️ Cause-of-Death Fields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9100" y="361265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ICD-coded primary and secondary causes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85750" y="3955554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19100" y="4069854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Print-Ready Reports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9100" y="426794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PDF case summaries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194000" y="1557338"/>
            <a:ext cx="2755850" cy="337096"/>
          </a:xfrm>
          <a:prstGeom prst="roundRect">
            <a:avLst>
              <a:gd name="adj" fmla="val 22605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27350" y="165258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194000" y="1989683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327350" y="2103983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TOD Range Calculation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327350" y="2302073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time-of-death estimation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194000" y="2644973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27350" y="2759273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Decomposition Logging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327350" y="295736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Stage-wise environmental tracking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194000" y="3300264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27350" y="3414564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Toxicology Integration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327350" y="361265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results linked to cases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194000" y="3955554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327350" y="4069854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Case Comparison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27350" y="426794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multi-case analysis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102251" y="1557338"/>
            <a:ext cx="2755850" cy="337096"/>
          </a:xfrm>
          <a:prstGeom prst="roundRect">
            <a:avLst>
              <a:gd name="adj" fmla="val 22605"/>
            </a:avLst>
          </a:prstGeom>
          <a:solidFill>
            <a:srgbClr val="1A88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35601" y="165258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102251" y="1989683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235601" y="2103983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Searchable Database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35601" y="2302073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across all cases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102251" y="2644973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235601" y="2759273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Advanced Filters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35601" y="295736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cause, age, injuries, region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102251" y="3300264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235601" y="3414564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Evidence Chain Tracking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35601" y="361265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custody timeline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102251" y="3955554"/>
            <a:ext cx="2755850" cy="56004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235601" y="4069854"/>
            <a:ext cx="2538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Pattern Alerts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235601" y="4267944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cluster detection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5C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89496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5750" y="1482179"/>
            <a:ext cx="2043113" cy="1558230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0606" y="1672679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875" y="2301329"/>
            <a:ext cx="11186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Doctors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629" y="2583210"/>
            <a:ext cx="1695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 for autopsy documentation and analysis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62213" y="1482179"/>
            <a:ext cx="2043113" cy="1558230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7069" y="1672679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83582" y="2301329"/>
            <a:ext cx="612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36091" y="2583210"/>
            <a:ext cx="1695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and private hospitals with mortuary facilities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38675" y="1482179"/>
            <a:ext cx="2043113" cy="1558230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93531" y="1672679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19241" y="2301329"/>
            <a:ext cx="11036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Colleges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2554" y="2583210"/>
            <a:ext cx="1695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research in forensic medicine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15138" y="1548854"/>
            <a:ext cx="2043113" cy="1424880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69994" y="1739354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32774" y="2368004"/>
            <a:ext cx="823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0802" y="2649885"/>
            <a:ext cx="1571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Toxicology and forensic science labs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85750" y="3192810"/>
            <a:ext cx="2768650" cy="649486"/>
          </a:xfrm>
          <a:prstGeom prst="roundRect">
            <a:avLst>
              <a:gd name="adj" fmla="val 1466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8229" y="3354735"/>
            <a:ext cx="1814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Mortuary Staff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28229" y="3547021"/>
            <a:ext cx="18149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handling and body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187750" y="3192810"/>
            <a:ext cx="2768650" cy="649486"/>
          </a:xfrm>
          <a:prstGeom prst="roundRect">
            <a:avLst>
              <a:gd name="adj" fmla="val 1466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30228" y="3354735"/>
            <a:ext cx="17120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 Authorities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3730228" y="3547021"/>
            <a:ext cx="1712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integration for case collaboration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89749" y="3192810"/>
            <a:ext cx="2768650" cy="649486"/>
          </a:xfrm>
          <a:prstGeom prst="roundRect">
            <a:avLst>
              <a:gd name="adj" fmla="val 14665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32228" y="3354735"/>
            <a:ext cx="20305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Teams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632228" y="354702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health surveillance from death data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85750" y="3994696"/>
            <a:ext cx="8572500" cy="613172"/>
          </a:xfrm>
          <a:prstGeom prst="roundRect">
            <a:avLst>
              <a:gd name="adj" fmla="val 1553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04800" y="3994696"/>
            <a:ext cx="0" cy="613172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128046"/>
            <a:ext cx="831646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Access Focus: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Especially beneficial for under-resourced district hospitals and medical colleges in rural areas that currently lack any digital forensic infrastructure.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b84e0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&amp; Impact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forensic healthcare delivery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85750" y="1493490"/>
            <a:ext cx="452437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04800" y="1493490"/>
            <a:ext cx="0" cy="685800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62684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28700" y="1668810"/>
            <a:ext cx="27217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Information Loss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028700" y="1870621"/>
            <a:ext cx="2721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digital records eliminate gaps in critical forensic data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85750" y="2293590"/>
            <a:ext cx="452437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04800" y="2293590"/>
            <a:ext cx="0" cy="685800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6250" y="242694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28700" y="2468910"/>
            <a:ext cx="2197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Analysis &amp; Reference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28700" y="2670721"/>
            <a:ext cx="2197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search across thousands of historical cases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85750" y="3093690"/>
            <a:ext cx="452437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04800" y="3093690"/>
            <a:ext cx="0" cy="685800"/>
          </a:xfrm>
          <a:prstGeom prst="line">
            <a:avLst/>
          </a:prstGeom>
          <a:noFill/>
          <a:ln w="38100">
            <a:solidFill>
              <a:srgbClr val="0D5C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250" y="322704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28700" y="3269010"/>
            <a:ext cx="22031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Medico-Legal Documentation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1028700" y="3470821"/>
            <a:ext cx="2203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Court-ready reports with complete chain-of-custody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85750" y="3893790"/>
            <a:ext cx="452437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04800" y="3893790"/>
            <a:ext cx="0" cy="68580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6250" y="402714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28700" y="4069110"/>
            <a:ext cx="2759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&amp; Research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028700" y="4270921"/>
            <a:ext cx="2759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library for medical education without extra resources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00625" y="1165175"/>
            <a:ext cx="3857625" cy="1318171"/>
          </a:xfrm>
          <a:prstGeom prst="roundRect">
            <a:avLst>
              <a:gd name="adj" fmla="val 8671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156359" y="1355675"/>
            <a:ext cx="35461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175313" y="1641425"/>
            <a:ext cx="161277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5175313" y="2159496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documentation time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070789" y="1641425"/>
            <a:ext cx="161277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700" dirty="0"/>
          </a:p>
        </p:txBody>
      </p:sp>
      <p:sp>
        <p:nvSpPr>
          <p:cNvPr id="30" name="Text 27"/>
          <p:cNvSpPr/>
          <p:nvPr/>
        </p:nvSpPr>
        <p:spPr>
          <a:xfrm>
            <a:off x="7070789" y="2159496"/>
            <a:ext cx="1612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chain accuracy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000625" y="2597646"/>
            <a:ext cx="3857625" cy="853232"/>
          </a:xfrm>
          <a:prstGeom prst="roundRect">
            <a:avLst>
              <a:gd name="adj" fmla="val 11163"/>
            </a:avLst>
          </a:prstGeom>
          <a:solidFill>
            <a:srgbClr val="FFFFFF"/>
          </a:solidFill>
          <a:ln w="19050">
            <a:solidFill>
              <a:srgbClr val="0D5C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172075" y="2769096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Modernizes Workflows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172075" y="2986236"/>
            <a:ext cx="35850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paper-based processes without disrupting existing medical procedures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000625" y="3565178"/>
            <a:ext cx="3857625" cy="853232"/>
          </a:xfrm>
          <a:prstGeom prst="roundRect">
            <a:avLst>
              <a:gd name="adj" fmla="val 11163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172075" y="3736628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Health Access Impact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172075" y="3953768"/>
            <a:ext cx="358502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underserved facilities to achieve the same documentation standards as premier institutes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5000625" y="4532709"/>
            <a:ext cx="3857625" cy="375196"/>
          </a:xfrm>
          <a:prstGeom prst="roundRect">
            <a:avLst>
              <a:gd name="adj" fmla="val 20309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078635" y="4647009"/>
            <a:ext cx="3701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dependency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external medical systems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c7717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0" y="6667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Care Crew • VIT Bhopal University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57200" y="1268760"/>
            <a:ext cx="1524000" cy="1487686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tmp/rasterized-gradient-601c2f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59260"/>
            <a:ext cx="609600" cy="609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9535" y="2164110"/>
            <a:ext cx="919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Gurinder Singh</a:t>
            </a:r>
            <a:endParaRPr lang="en-US" sz="975" dirty="0"/>
          </a:p>
        </p:txBody>
      </p:sp>
      <p:sp>
        <p:nvSpPr>
          <p:cNvPr id="8" name="Text 4"/>
          <p:cNvSpPr/>
          <p:nvPr/>
        </p:nvSpPr>
        <p:spPr>
          <a:xfrm>
            <a:off x="938510" y="2432596"/>
            <a:ext cx="572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Student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133600" y="1268760"/>
            <a:ext cx="1524000" cy="1487686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/tmp/rasterized-gradient-dbb72b7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459260"/>
            <a:ext cx="609600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23528" y="2164110"/>
            <a:ext cx="7439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Rishi Kumar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2614910" y="2432596"/>
            <a:ext cx="572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Student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810000" y="1268760"/>
            <a:ext cx="1524000" cy="1487686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tmp/rasterized-gradient-60e9ee4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459260"/>
            <a:ext cx="609600" cy="609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54235" y="2164110"/>
            <a:ext cx="8353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Jatin Guleriya</a:t>
            </a:r>
            <a:endParaRPr lang="en-US" sz="975" dirty="0"/>
          </a:p>
        </p:txBody>
      </p:sp>
      <p:sp>
        <p:nvSpPr>
          <p:cNvPr id="16" name="Text 10"/>
          <p:cNvSpPr/>
          <p:nvPr/>
        </p:nvSpPr>
        <p:spPr>
          <a:xfrm>
            <a:off x="4291310" y="2432596"/>
            <a:ext cx="572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Student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486400" y="1268760"/>
            <a:ext cx="1524000" cy="1487686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/tmp/rasterized-gradient-e9efeec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459260"/>
            <a:ext cx="609600" cy="609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50177" y="2164110"/>
            <a:ext cx="9964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Shantanu Pandit</a:t>
            </a:r>
            <a:endParaRPr lang="en-US" sz="975" dirty="0"/>
          </a:p>
        </p:txBody>
      </p:sp>
      <p:sp>
        <p:nvSpPr>
          <p:cNvPr id="20" name="Text 13"/>
          <p:cNvSpPr/>
          <p:nvPr/>
        </p:nvSpPr>
        <p:spPr>
          <a:xfrm>
            <a:off x="5967710" y="2432596"/>
            <a:ext cx="572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Student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7162800" y="1268760"/>
            <a:ext cx="1524000" cy="1487686"/>
          </a:xfrm>
          <a:prstGeom prst="roundRect">
            <a:avLst>
              <a:gd name="adj" fmla="val 7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tmp/rasterized-gradient-b659f06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1459260"/>
            <a:ext cx="609600" cy="609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39902" y="2164110"/>
            <a:ext cx="3697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Vishal</a:t>
            </a:r>
            <a:endParaRPr lang="en-US" sz="975" dirty="0"/>
          </a:p>
        </p:txBody>
      </p:sp>
      <p:sp>
        <p:nvSpPr>
          <p:cNvPr id="24" name="Text 16"/>
          <p:cNvSpPr/>
          <p:nvPr/>
        </p:nvSpPr>
        <p:spPr>
          <a:xfrm>
            <a:off x="7644110" y="2432596"/>
            <a:ext cx="572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Student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285750" y="2946946"/>
            <a:ext cx="2028825" cy="1264890"/>
          </a:xfrm>
          <a:prstGeom prst="roundRect">
            <a:avLst>
              <a:gd name="adj" fmla="val 7530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652314" y="3594646"/>
            <a:ext cx="13216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Development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813048" y="3926086"/>
            <a:ext cx="993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Python, Node.js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2466975" y="2946946"/>
            <a:ext cx="2028825" cy="1264890"/>
          </a:xfrm>
          <a:prstGeom prst="roundRect">
            <a:avLst>
              <a:gd name="adj" fmla="val 7530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3020764" y="3594646"/>
            <a:ext cx="9395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2983706" y="3926086"/>
            <a:ext cx="1015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MongoDB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4648200" y="2946946"/>
            <a:ext cx="2028825" cy="1264890"/>
          </a:xfrm>
          <a:prstGeom prst="roundRect">
            <a:avLst>
              <a:gd name="adj" fmla="val 7530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303639" y="3594646"/>
            <a:ext cx="7321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4905375" y="3926086"/>
            <a:ext cx="15446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User-centered healthcare interfaces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6829425" y="2946946"/>
            <a:ext cx="2028825" cy="1264890"/>
          </a:xfrm>
          <a:prstGeom prst="roundRect">
            <a:avLst>
              <a:gd name="adj" fmla="val 7530"/>
            </a:avLst>
          </a:prstGeom>
          <a:solidFill>
            <a:srgbClr val="E8F4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7451973" y="3594646"/>
            <a:ext cx="7992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0D5C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237512" y="3926086"/>
            <a:ext cx="1236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 &amp; reporting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285750" y="4402336"/>
            <a:ext cx="8572500" cy="439936"/>
          </a:xfrm>
          <a:prstGeom prst="roundRect">
            <a:avLst>
              <a:gd name="adj" fmla="val 21651"/>
            </a:avLst>
          </a:prstGeom>
          <a:solidFill>
            <a:srgbClr val="0D5C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94335" y="4535686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Bhopal University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Master of Computer Applications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72328" y="371773"/>
            <a:ext cx="2199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81582" y="1133773"/>
            <a:ext cx="29808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Forensic Medicine &amp; Public Health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56096" y="2109043"/>
            <a:ext cx="63165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FPMIS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6882" y="2558504"/>
            <a:ext cx="21900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Post-Mortem Intelligence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80854" y="3099495"/>
            <a:ext cx="3582293" cy="630436"/>
          </a:xfrm>
          <a:prstGeom prst="roundRect">
            <a:avLst>
              <a:gd name="adj" fmla="val 1510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17065" y="3232845"/>
            <a:ext cx="31098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Digital Care Crew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17065" y="3463230"/>
            <a:ext cx="3109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Gurinder Singh • Rishi Kumar • Jatin Guleriya • Shantanu Pandit • Vishal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91916" y="4034730"/>
            <a:ext cx="1360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2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Bhopal University • MCA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77741" y="4467076"/>
            <a:ext cx="3388370" cy="304800"/>
          </a:xfrm>
          <a:prstGeom prst="roundRect">
            <a:avLst>
              <a:gd name="adj" fmla="val 62500"/>
            </a:avLst>
          </a:prstGeom>
          <a:solidFill>
            <a:srgbClr val="FF6B6B">
              <a:alpha val="2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7882" y="4552801"/>
            <a:ext cx="30480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HealthHack 2026 • VIT Bhopal × Johns Hopkins University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VIT Bhopal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FPMIS - Forensic Post-Mortem Intelligence System</dc:title>
  <dc:subject>HealthHack 2026 Presentation</dc:subject>
  <dc:creator>Digital Care Crew</dc:creator>
  <cp:lastModifiedBy>Digital Care Crew</cp:lastModifiedBy>
  <cp:revision>1</cp:revision>
  <dcterms:created xsi:type="dcterms:W3CDTF">2025-11-30T18:52:50Z</dcterms:created>
  <dcterms:modified xsi:type="dcterms:W3CDTF">2025-11-30T18:52:50Z</dcterms:modified>
</cp:coreProperties>
</file>